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7" r:id="rId9"/>
    <p:sldId id="265" r:id="rId10"/>
    <p:sldId id="266" r:id="rId11"/>
    <p:sldId id="264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420D-A36C-4C88-C75A-FC66D3A0B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BECAB-F99F-8B1E-54E0-36F9589C6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4016-05AF-71AE-AC84-3577F48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BF315-09FF-D653-8458-53D030CE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55885-3F06-B581-AAB9-5AA29E0B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20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2BBC-7471-BA02-19DF-F719EA3D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C6116-08A6-2E5A-4308-929ADEC8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FE840-1ACC-615A-83BB-D2068C3D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1C685-CE3C-0874-ACE6-73692AB8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CBE69-AED8-8ED0-753C-15913B1A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0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9C50-F580-3799-673E-F903495E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16592-BE50-DAB7-379F-00C20AE19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1A268-9276-D66C-3555-56499DDC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FFBAD-E771-0E3C-3F1E-A0B88637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20216-6752-3532-5FEE-85D2DC4A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3BFB-A926-02CC-1ADA-678996A5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9E309-320F-C88D-A228-C0D8D3DC8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EA0A3-DAF9-E688-F459-9E740CD64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067B4-5117-B9A5-4144-AF610633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6A9FB-4802-DDEA-F7F8-44E53A2D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1764B-84D9-0E44-9A37-DCA48DA7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4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B4DF-F2AF-6CC1-D740-E31E1085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66037-0132-73ED-24C8-C7B077465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5A875-552D-2A66-B9E1-6B993FDD1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1EF70-E26B-FB99-D452-5146B9297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5DD8F-CE17-BBA6-01F5-EB0A63AD9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F67DE-767C-64CF-DA7F-446B9E1A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87DB4-E0F0-C911-CC74-3D78E920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45100-3028-2880-6C5B-15C42C41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4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0ED0-B952-63B0-E998-53A9D3C7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9475F-E77E-D430-12AA-424AB51B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1276D-82ED-7E70-E231-D13A3EC9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B9E8A-803B-D940-10BD-E90BE509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9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D1D67-5452-BEE2-8CF9-41526211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66F7A-D4D1-ECE1-4258-3F73DC9E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9C987-7BED-B416-EEEC-B8BE6C95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9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20F7-A5ED-EA83-9FC5-E0B9596B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04EC-133C-3ADA-F7A4-397CF9F3C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C5A13-3E64-0146-09B9-A0E783B9D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1312D-6C75-444D-3101-97FF783BE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90299-1E01-AB56-1335-AD380A42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74AB7-8311-9B84-292F-6A1E768C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6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2E00-85F8-CD58-BC2C-AF56FB80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4A4A6-99CD-90CA-4575-F3A5C25FD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1DFBB-6447-C1AB-CCD4-C39F901CE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074DA-AF42-9B6D-B96A-98CED6AA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EC1A2-1F97-F832-33B0-06A443B1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CCF37-764C-3223-9DFD-A1E62063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AD07-46A2-B582-3B59-912D1AF0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AEF10-8CF2-D9E1-5825-653DBF017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A51D6-9E0E-61FF-8E34-C4B4B320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9B18C-F205-FADA-D947-97AEECEB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CE39F-459F-904F-1C11-F25221E0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A4C0B-85CE-AF14-4885-D8E28E322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4D5CE-24D3-25BA-03B0-2038243F9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B0343-D810-0BCA-3ED7-CB226290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D7A7-C471-35B4-0B4A-06EA4B490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FB2F-A0F5-2E3E-DE84-9ED2BEEF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3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56677-9159-0558-7147-7D956FB4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0D35E-7FE5-7175-2033-2F02DF107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4FF4D-8767-63C5-2862-29528D31C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AF42D-E78A-4EBE-98F5-A90AA0DCFA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7950D-C2EC-8391-EBE5-9ED5EFA09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80674-FD24-8DF0-61C8-6528F7829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CA31B-5260-489C-A162-001E80C94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7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FB60-C970-92E4-978E-049723E07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Volatility forecasting with Gaussian HMM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91204-225B-8237-9F93-BF9954A9B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Dziugas </a:t>
            </a:r>
            <a:r>
              <a:rPr lang="en-US" dirty="0" err="1"/>
              <a:t>Chvoinikov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45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D594-2587-C02D-5EB0-86B0D7C0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forecast H-day future volatility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68BA6-7BAF-254D-DFFD-99862B762315}"/>
              </a:ext>
            </a:extLst>
          </p:cNvPr>
          <p:cNvSpPr txBox="1"/>
          <p:nvPr/>
        </p:nvSpPr>
        <p:spPr>
          <a:xfrm>
            <a:off x="660903" y="2372009"/>
            <a:ext cx="1249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Estimate: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A712267-6558-C63B-A3A2-3A0112985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C7F5C286-3992-FC42-97C7-A254C59AF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281" y="1981722"/>
            <a:ext cx="3022546" cy="1180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39C647-243C-2190-5930-372B0A38DB45}"/>
              </a:ext>
            </a:extLst>
          </p:cNvPr>
          <p:cNvSpPr txBox="1"/>
          <p:nvPr/>
        </p:nvSpPr>
        <p:spPr>
          <a:xfrm>
            <a:off x="660904" y="3339458"/>
            <a:ext cx="291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 regime: High or Low</a:t>
            </a:r>
          </a:p>
        </p:txBody>
      </p:sp>
    </p:spTree>
    <p:extLst>
      <p:ext uri="{BB962C8B-B14F-4D97-AF65-F5344CB8AC3E}">
        <p14:creationId xmlns:p14="http://schemas.microsoft.com/office/powerpoint/2010/main" val="123157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0776-B154-58FD-2F51-D68941CD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variance proxy</a:t>
            </a:r>
          </a:p>
        </p:txBody>
      </p:sp>
      <p:pic>
        <p:nvPicPr>
          <p:cNvPr id="7" name="Content Placeholder 6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81C770A8-0462-6036-741B-71FDAE19D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597" y="1385325"/>
            <a:ext cx="5581064" cy="273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9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D1050-F575-B066-0D86-DF38BF776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HMM key assumptions</a:t>
            </a:r>
          </a:p>
        </p:txBody>
      </p:sp>
      <p:pic>
        <p:nvPicPr>
          <p:cNvPr id="5" name="Picture 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B120A497-5E76-635A-07DB-5EC64E8E2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44" y="1230207"/>
            <a:ext cx="7978202" cy="52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9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271B-210C-9FBD-F5EE-AEDA786C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16.4 Volatility Clustering and Autoregressive Conditional  Heteroskedasticity | Introduction to Econometrics with R">
            <a:extLst>
              <a:ext uri="{FF2B5EF4-FFF2-40B4-BE49-F238E27FC236}">
                <a16:creationId xmlns:a16="http://schemas.microsoft.com/office/drawing/2014/main" id="{20BEC672-CA5C-5092-ED9F-A804CAE9ED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387" y="223118"/>
            <a:ext cx="8589852" cy="613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24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E38A-E878-FA5F-BFFB-32F94B53F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4D499-E99F-1189-7D53-BD489207C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Volatility Clusters -">
            <a:extLst>
              <a:ext uri="{FF2B5EF4-FFF2-40B4-BE49-F238E27FC236}">
                <a16:creationId xmlns:a16="http://schemas.microsoft.com/office/drawing/2014/main" id="{A26598C6-15A2-2737-D4B7-61DDC677E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82" y="1140111"/>
            <a:ext cx="11314636" cy="424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13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7063-B09E-EF9E-28C2-93572E3A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: djp3, Hidden Markov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51CAF7-D4A5-4B18-86BD-0A8D2800F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689" y="1572586"/>
            <a:ext cx="2675296" cy="4774374"/>
          </a:xfrm>
          <a:prstGeom prst="rect">
            <a:avLst/>
          </a:prstGeom>
        </p:spPr>
      </p:pic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E17008B3-1672-6775-73D4-65775657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722" y="1572586"/>
            <a:ext cx="9326278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4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6C36-4D15-E8DF-C1A4-1D3768B0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rolling walk-forward with refitting.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5C99-5617-FA92-4EFB-CCCBF2911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 HMM on data up to time t</a:t>
            </a:r>
          </a:p>
          <a:p>
            <a:r>
              <a:rPr lang="en-US" dirty="0"/>
              <a:t>Forecast H-day variance</a:t>
            </a:r>
          </a:p>
          <a:p>
            <a:r>
              <a:rPr lang="en-US" dirty="0"/>
              <a:t>Compare with realized variance over [t+1,t+H]</a:t>
            </a:r>
          </a:p>
          <a:p>
            <a:r>
              <a:rPr lang="en-US" dirty="0"/>
              <a:t>Move forward by step</a:t>
            </a:r>
          </a:p>
          <a:p>
            <a:r>
              <a:rPr lang="en-US" dirty="0"/>
              <a:t>Refit the model</a:t>
            </a:r>
          </a:p>
        </p:txBody>
      </p:sp>
    </p:spTree>
    <p:extLst>
      <p:ext uri="{BB962C8B-B14F-4D97-AF65-F5344CB8AC3E}">
        <p14:creationId xmlns:p14="http://schemas.microsoft.com/office/powerpoint/2010/main" val="371858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FE3B-8FD5-00DE-77E4-1819128D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B7B4A-B617-FCBD-BDF9-A45EA285E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315" y="73295"/>
            <a:ext cx="8819746" cy="617982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1C57A7-A547-997E-AEE6-951DE0A0E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85" y="6333516"/>
            <a:ext cx="2896004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88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9D22-6FD8-254B-A0F8-27A27440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and yellow striped chart&#10;&#10;AI-generated content may be incorrect.">
            <a:extLst>
              <a:ext uri="{FF2B5EF4-FFF2-40B4-BE49-F238E27FC236}">
                <a16:creationId xmlns:a16="http://schemas.microsoft.com/office/drawing/2014/main" id="{0BE781B4-88DE-B71C-9AE3-32D18E722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84" y="0"/>
            <a:ext cx="8878112" cy="63084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AD68A8-8A59-52FB-4308-56A536AF4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697" y="5936354"/>
            <a:ext cx="2857899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79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B76A-0266-E431-709D-2F029E610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058C8FF1-2B48-D27B-ED0D-C1A65D1F8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58" y="6094256"/>
            <a:ext cx="6411220" cy="543001"/>
          </a:xfrm>
          <a:prstGeom prst="rect">
            <a:avLst/>
          </a:prstGeom>
        </p:spPr>
      </p:pic>
      <p:pic>
        <p:nvPicPr>
          <p:cNvPr id="13" name="Content Placeholder 12" descr="A green and white chart&#10;&#10;AI-generated content may be incorrect.">
            <a:extLst>
              <a:ext uri="{FF2B5EF4-FFF2-40B4-BE49-F238E27FC236}">
                <a16:creationId xmlns:a16="http://schemas.microsoft.com/office/drawing/2014/main" id="{AC76EE65-FDB7-3612-6E77-C17BD447C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1760" y="39902"/>
            <a:ext cx="8525674" cy="60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8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97D8-59A0-7E55-BE53-B821E347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1589C-4D4D-49EB-7145-C51CC5241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8" y="99852"/>
            <a:ext cx="9373332" cy="665829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D122E7-81BE-9893-E33E-9F5C19A0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A number and equal sign&#10;&#10;AI-generated content may be incorrect.">
            <a:extLst>
              <a:ext uri="{FF2B5EF4-FFF2-40B4-BE49-F238E27FC236}">
                <a16:creationId xmlns:a16="http://schemas.microsoft.com/office/drawing/2014/main" id="{BB223D71-6C3E-524E-9143-C974C07CB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540" y="2857420"/>
            <a:ext cx="2343477" cy="5715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C07947-133D-C813-8CEB-959DD17E540B}"/>
              </a:ext>
            </a:extLst>
          </p:cNvPr>
          <p:cNvSpPr txBox="1"/>
          <p:nvPr/>
        </p:nvSpPr>
        <p:spPr>
          <a:xfrm>
            <a:off x="9513650" y="1128409"/>
            <a:ext cx="2344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Viterbi algorithm</a:t>
            </a:r>
          </a:p>
        </p:txBody>
      </p:sp>
    </p:spTree>
    <p:extLst>
      <p:ext uri="{BB962C8B-B14F-4D97-AF65-F5344CB8AC3E}">
        <p14:creationId xmlns:p14="http://schemas.microsoft.com/office/powerpoint/2010/main" val="423778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427E-4807-3CE1-CE07-4F0B29B7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number and a number of symbols&#10;&#10;AI-generated content may be incorrect.">
            <a:extLst>
              <a:ext uri="{FF2B5EF4-FFF2-40B4-BE49-F238E27FC236}">
                <a16:creationId xmlns:a16="http://schemas.microsoft.com/office/drawing/2014/main" id="{6ED2AA6E-3D4E-9ADE-1157-396681955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7130" y="3696451"/>
            <a:ext cx="2257740" cy="609685"/>
          </a:xfrm>
          <a:prstGeom prst="rect">
            <a:avLst/>
          </a:prstGeom>
        </p:spPr>
      </p:pic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8723B70C-EFEB-1FB4-FA3E-98C00E103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405"/>
            <a:ext cx="9360502" cy="66471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BE1859-57ED-4229-83D8-5A12822A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405" y="3086766"/>
            <a:ext cx="2257740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8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73</Words>
  <Application>Microsoft Office PowerPoint</Application>
  <PresentationFormat>Widescreen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Volatility forecasting with Gaussian HMM</vt:lpstr>
      <vt:lpstr>Goal: forecast H-day future volatility</vt:lpstr>
      <vt:lpstr>Daily variance proxy</vt:lpstr>
      <vt:lpstr>HMM key assumptions</vt:lpstr>
      <vt:lpstr>PowerPoint Presentation</vt:lpstr>
      <vt:lpstr>PowerPoint Presentation</vt:lpstr>
      <vt:lpstr>Youtube: djp3, Hidden Markov Models</vt:lpstr>
      <vt:lpstr>rolling walk-forward with refitting.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Dziugas Ch</dc:creator>
  <cp:lastModifiedBy>Dziugas Ch</cp:lastModifiedBy>
  <cp:revision>8</cp:revision>
  <dcterms:created xsi:type="dcterms:W3CDTF">2025-12-10T18:17:06Z</dcterms:created>
  <dcterms:modified xsi:type="dcterms:W3CDTF">2025-12-16T11:18:03Z</dcterms:modified>
</cp:coreProperties>
</file>